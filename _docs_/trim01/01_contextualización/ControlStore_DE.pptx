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8" r:id="rId9"/>
    <p:sldId id="264" r:id="rId10"/>
    <p:sldId id="265" r:id="rId11"/>
    <p:sldId id="266" r:id="rId12"/>
    <p:sldId id="267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145999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37AE0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" y="3436620"/>
            <a:ext cx="12182855" cy="39319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341119"/>
            <a:ext cx="12191999" cy="219455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70804" y="1574291"/>
            <a:ext cx="868679" cy="15087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29656" y="1743455"/>
            <a:ext cx="937259" cy="512063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265420"/>
            <a:ext cx="12184380" cy="499109"/>
          </a:xfrm>
          <a:custGeom>
            <a:avLst/>
            <a:gdLst/>
            <a:ahLst/>
            <a:cxnLst/>
            <a:rect l="l" t="t" r="r" b="b"/>
            <a:pathLst>
              <a:path w="12184380" h="499110">
                <a:moveTo>
                  <a:pt x="12184253" y="0"/>
                </a:moveTo>
                <a:lnTo>
                  <a:pt x="0" y="0"/>
                </a:lnTo>
                <a:lnTo>
                  <a:pt x="0" y="499109"/>
                </a:lnTo>
                <a:lnTo>
                  <a:pt x="12184253" y="499109"/>
                </a:lnTo>
                <a:lnTo>
                  <a:pt x="12184253" y="0"/>
                </a:lnTo>
                <a:close/>
              </a:path>
            </a:pathLst>
          </a:custGeom>
          <a:solidFill>
            <a:srgbClr val="3DA10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2877" y="235457"/>
            <a:ext cx="6739178" cy="107873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70763" y="2122678"/>
            <a:ext cx="10998835" cy="2348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Control_Store_Scrum_DE.xlsx#'GANTT SCRUM'!A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8.jpg"/><Relationship Id="rId7" Type="http://schemas.openxmlformats.org/officeDocument/2006/relationships/image" Target="../media/image35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7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74521" y="2543301"/>
            <a:ext cx="4211320" cy="627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950" b="1" spc="135" dirty="0">
                <a:solidFill>
                  <a:srgbClr val="404040"/>
                </a:solidFill>
                <a:latin typeface="Trebuchet MS"/>
                <a:cs typeface="Trebuchet MS"/>
              </a:rPr>
              <a:t>CONTROL</a:t>
            </a:r>
            <a:r>
              <a:rPr sz="3950" b="1" spc="490" dirty="0">
                <a:solidFill>
                  <a:srgbClr val="404040"/>
                </a:solidFill>
                <a:latin typeface="Trebuchet MS"/>
                <a:cs typeface="Trebuchet MS"/>
              </a:rPr>
              <a:t> </a:t>
            </a:r>
            <a:r>
              <a:rPr sz="3950" b="1" spc="120" dirty="0">
                <a:solidFill>
                  <a:srgbClr val="404040"/>
                </a:solidFill>
                <a:latin typeface="Trebuchet MS"/>
                <a:cs typeface="Trebuchet MS"/>
              </a:rPr>
              <a:t>STORE</a:t>
            </a:r>
            <a:endParaRPr sz="39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501384" y="2767583"/>
            <a:ext cx="1999614" cy="133350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10"/>
              </a:spcBef>
            </a:pPr>
            <a:endParaRPr sz="1550">
              <a:latin typeface="Times New Roman"/>
              <a:cs typeface="Times New Roman"/>
            </a:endParaRPr>
          </a:p>
          <a:p>
            <a:pPr marL="358775">
              <a:lnSpc>
                <a:spcPct val="100000"/>
              </a:lnSpc>
              <a:spcBef>
                <a:spcPts val="5"/>
              </a:spcBef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3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496811" y="2763011"/>
            <a:ext cx="4018915" cy="1343025"/>
            <a:chOff x="6496811" y="2763011"/>
            <a:chExt cx="4018915" cy="134302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96300" y="2763011"/>
              <a:ext cx="2019300" cy="134264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96811" y="2763011"/>
              <a:ext cx="2066543" cy="13335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50752" y="313943"/>
              <a:ext cx="173735" cy="1706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69193" y="512065"/>
              <a:ext cx="162814" cy="11988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30712" y="513079"/>
              <a:ext cx="615315" cy="587375"/>
            </a:xfrm>
            <a:custGeom>
              <a:avLst/>
              <a:gdLst/>
              <a:ahLst/>
              <a:cxnLst/>
              <a:rect l="l" t="t" r="r" b="b"/>
              <a:pathLst>
                <a:path w="615315" h="587375">
                  <a:moveTo>
                    <a:pt x="364236" y="91440"/>
                  </a:moveTo>
                  <a:lnTo>
                    <a:pt x="274701" y="91440"/>
                  </a:lnTo>
                  <a:lnTo>
                    <a:pt x="274701" y="68580"/>
                  </a:lnTo>
                  <a:lnTo>
                    <a:pt x="354330" y="68580"/>
                  </a:lnTo>
                  <a:lnTo>
                    <a:pt x="354330" y="44450"/>
                  </a:lnTo>
                  <a:lnTo>
                    <a:pt x="274701" y="44450"/>
                  </a:lnTo>
                  <a:lnTo>
                    <a:pt x="274701" y="26670"/>
                  </a:lnTo>
                  <a:lnTo>
                    <a:pt x="361061" y="26670"/>
                  </a:lnTo>
                  <a:lnTo>
                    <a:pt x="361061" y="0"/>
                  </a:lnTo>
                  <a:lnTo>
                    <a:pt x="222631" y="0"/>
                  </a:lnTo>
                  <a:lnTo>
                    <a:pt x="222631" y="26670"/>
                  </a:lnTo>
                  <a:lnTo>
                    <a:pt x="222631" y="44450"/>
                  </a:lnTo>
                  <a:lnTo>
                    <a:pt x="222631" y="68580"/>
                  </a:lnTo>
                  <a:lnTo>
                    <a:pt x="222631" y="91440"/>
                  </a:lnTo>
                  <a:lnTo>
                    <a:pt x="222631" y="116840"/>
                  </a:lnTo>
                  <a:lnTo>
                    <a:pt x="364236" y="116840"/>
                  </a:lnTo>
                  <a:lnTo>
                    <a:pt x="364236" y="91440"/>
                  </a:lnTo>
                  <a:close/>
                </a:path>
                <a:path w="615315" h="587375">
                  <a:moveTo>
                    <a:pt x="371983" y="146431"/>
                  </a:moveTo>
                  <a:lnTo>
                    <a:pt x="0" y="146431"/>
                  </a:lnTo>
                  <a:lnTo>
                    <a:pt x="0" y="208153"/>
                  </a:lnTo>
                  <a:lnTo>
                    <a:pt x="231013" y="208153"/>
                  </a:lnTo>
                  <a:lnTo>
                    <a:pt x="241427" y="210947"/>
                  </a:lnTo>
                  <a:lnTo>
                    <a:pt x="248412" y="218186"/>
                  </a:lnTo>
                  <a:lnTo>
                    <a:pt x="250952" y="227838"/>
                  </a:lnTo>
                  <a:lnTo>
                    <a:pt x="248158" y="238252"/>
                  </a:lnTo>
                  <a:lnTo>
                    <a:pt x="107188" y="483743"/>
                  </a:lnTo>
                  <a:lnTo>
                    <a:pt x="153416" y="527304"/>
                  </a:lnTo>
                  <a:lnTo>
                    <a:pt x="371983" y="146431"/>
                  </a:lnTo>
                  <a:close/>
                </a:path>
                <a:path w="615315" h="587375">
                  <a:moveTo>
                    <a:pt x="614934" y="558038"/>
                  </a:moveTo>
                  <a:lnTo>
                    <a:pt x="405257" y="210820"/>
                  </a:lnTo>
                  <a:lnTo>
                    <a:pt x="404749" y="210820"/>
                  </a:lnTo>
                  <a:lnTo>
                    <a:pt x="404749" y="211328"/>
                  </a:lnTo>
                  <a:lnTo>
                    <a:pt x="199771" y="559562"/>
                  </a:lnTo>
                  <a:lnTo>
                    <a:pt x="254381" y="586994"/>
                  </a:lnTo>
                  <a:lnTo>
                    <a:pt x="388620" y="360172"/>
                  </a:lnTo>
                  <a:lnTo>
                    <a:pt x="396367" y="352679"/>
                  </a:lnTo>
                  <a:lnTo>
                    <a:pt x="406273" y="350139"/>
                  </a:lnTo>
                  <a:lnTo>
                    <a:pt x="416306" y="352679"/>
                  </a:lnTo>
                  <a:lnTo>
                    <a:pt x="424053" y="360172"/>
                  </a:lnTo>
                  <a:lnTo>
                    <a:pt x="559308" y="586994"/>
                  </a:lnTo>
                  <a:lnTo>
                    <a:pt x="614934" y="5580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16792" y="513587"/>
              <a:ext cx="403605" cy="11633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468734" y="659511"/>
              <a:ext cx="372745" cy="381000"/>
            </a:xfrm>
            <a:custGeom>
              <a:avLst/>
              <a:gdLst/>
              <a:ahLst/>
              <a:cxnLst/>
              <a:rect l="l" t="t" r="r" b="b"/>
              <a:pathLst>
                <a:path w="372745" h="381000">
                  <a:moveTo>
                    <a:pt x="372618" y="0"/>
                  </a:moveTo>
                  <a:lnTo>
                    <a:pt x="0" y="0"/>
                  </a:lnTo>
                  <a:lnTo>
                    <a:pt x="218567" y="380873"/>
                  </a:lnTo>
                  <a:lnTo>
                    <a:pt x="264922" y="337312"/>
                  </a:lnTo>
                  <a:lnTo>
                    <a:pt x="123825" y="91821"/>
                  </a:lnTo>
                  <a:lnTo>
                    <a:pt x="121031" y="81406"/>
                  </a:lnTo>
                  <a:lnTo>
                    <a:pt x="123698" y="71754"/>
                  </a:lnTo>
                  <a:lnTo>
                    <a:pt x="130683" y="64515"/>
                  </a:lnTo>
                  <a:lnTo>
                    <a:pt x="141097" y="61722"/>
                  </a:lnTo>
                  <a:lnTo>
                    <a:pt x="372618" y="61722"/>
                  </a:lnTo>
                  <a:lnTo>
                    <a:pt x="372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67455" y="428244"/>
              <a:ext cx="5710428" cy="200558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67555" y="1533144"/>
              <a:ext cx="4099559" cy="2005583"/>
            </a:xfrm>
            <a:prstGeom prst="rect">
              <a:avLst/>
            </a:prstGeom>
          </p:spPr>
        </p:pic>
      </p:grpSp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xfrm>
            <a:off x="3823208" y="474040"/>
            <a:ext cx="4112895" cy="2233295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821690" marR="5080" indent="-809625">
              <a:lnSpc>
                <a:spcPct val="101099"/>
              </a:lnSpc>
              <a:spcBef>
                <a:spcPts val="5"/>
              </a:spcBef>
            </a:pPr>
            <a:r>
              <a:rPr sz="7200" spc="190" dirty="0"/>
              <a:t>CONTROL </a:t>
            </a:r>
            <a:r>
              <a:rPr sz="7200" spc="229" dirty="0"/>
              <a:t>STORE</a:t>
            </a:r>
            <a:endParaRPr sz="7200"/>
          </a:p>
        </p:txBody>
      </p:sp>
      <p:sp>
        <p:nvSpPr>
          <p:cNvPr id="12" name="object 12"/>
          <p:cNvSpPr txBox="1"/>
          <p:nvPr/>
        </p:nvSpPr>
        <p:spPr>
          <a:xfrm>
            <a:off x="4318253" y="3280663"/>
            <a:ext cx="3410585" cy="760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44450" algn="ctr">
              <a:lnSpc>
                <a:spcPct val="100000"/>
              </a:lnSpc>
              <a:spcBef>
                <a:spcPts val="95"/>
              </a:spcBef>
            </a:pPr>
            <a:r>
              <a:rPr sz="1550" spc="60" dirty="0">
                <a:solidFill>
                  <a:srgbClr val="FFFFFF"/>
                </a:solidFill>
                <a:latin typeface="Trebuchet MS"/>
                <a:cs typeface="Trebuchet MS"/>
              </a:rPr>
              <a:t>TORRES</a:t>
            </a:r>
            <a:r>
              <a:rPr sz="1550" spc="2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55" dirty="0">
                <a:solidFill>
                  <a:srgbClr val="FFFFFF"/>
                </a:solidFill>
                <a:latin typeface="Trebuchet MS"/>
                <a:cs typeface="Trebuchet MS"/>
              </a:rPr>
              <a:t>PEÑA</a:t>
            </a:r>
            <a:r>
              <a:rPr sz="1550" spc="2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BRAYAN</a:t>
            </a:r>
            <a:r>
              <a:rPr sz="1550" spc="1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35" dirty="0">
                <a:solidFill>
                  <a:srgbClr val="FFFFFF"/>
                </a:solidFill>
                <a:latin typeface="Trebuchet MS"/>
                <a:cs typeface="Trebuchet MS"/>
              </a:rPr>
              <a:t>ALEXANDER </a:t>
            </a:r>
            <a:r>
              <a:rPr sz="1550" spc="50" dirty="0">
                <a:solidFill>
                  <a:srgbClr val="FFFFFF"/>
                </a:solidFill>
                <a:latin typeface="Trebuchet MS"/>
                <a:cs typeface="Trebuchet MS"/>
              </a:rPr>
              <a:t>ORTEGON</a:t>
            </a:r>
            <a:r>
              <a:rPr sz="1550" spc="1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50" dirty="0">
                <a:solidFill>
                  <a:srgbClr val="FFFFFF"/>
                </a:solidFill>
                <a:latin typeface="Trebuchet MS"/>
                <a:cs typeface="Trebuchet MS"/>
              </a:rPr>
              <a:t>ACOSTA</a:t>
            </a:r>
            <a:r>
              <a:rPr sz="1550" spc="2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DAVID</a:t>
            </a:r>
            <a:r>
              <a:rPr sz="1550" spc="-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ALEJANDRO</a:t>
            </a:r>
            <a:endParaRPr sz="1550" dirty="0">
              <a:latin typeface="Trebuchet MS"/>
              <a:cs typeface="Trebuchet MS"/>
            </a:endParaRPr>
          </a:p>
          <a:p>
            <a:pPr marR="15875" algn="ctr">
              <a:lnSpc>
                <a:spcPct val="100000"/>
              </a:lnSpc>
              <a:spcBef>
                <a:spcPts val="204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NELSON</a:t>
            </a:r>
            <a:r>
              <a:rPr sz="1550" spc="3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STIVEN</a:t>
            </a:r>
            <a:r>
              <a:rPr sz="1550" spc="3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VARGAS</a:t>
            </a:r>
            <a:endParaRPr sz="1550" dirty="0">
              <a:latin typeface="Trebuchet MS"/>
              <a:cs typeface="Trebuchet M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71600" y="5248655"/>
            <a:ext cx="9473565" cy="1203960"/>
            <a:chOff x="1371600" y="5248655"/>
            <a:chExt cx="9473565" cy="1203960"/>
          </a:xfrm>
        </p:grpSpPr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71600" y="5248655"/>
              <a:ext cx="3395472" cy="47091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66844" y="5248655"/>
              <a:ext cx="423672" cy="470916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591811" y="5248655"/>
              <a:ext cx="6252972" cy="47091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038855" y="5495543"/>
              <a:ext cx="3928872" cy="47244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667500" y="5495543"/>
              <a:ext cx="394716" cy="472440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819900" y="5495543"/>
              <a:ext cx="2348483" cy="47244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782311" y="5734811"/>
              <a:ext cx="2642616" cy="470916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591811" y="5981700"/>
              <a:ext cx="3032760" cy="470916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638045" y="5258511"/>
            <a:ext cx="8929370" cy="10375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5200"/>
              </a:lnSpc>
              <a:spcBef>
                <a:spcPts val="100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Servicio</a:t>
            </a:r>
            <a:r>
              <a:rPr sz="1550" spc="12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Nacional</a:t>
            </a:r>
            <a:r>
              <a:rPr sz="1550" spc="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Aprendizaje</a:t>
            </a:r>
            <a:r>
              <a:rPr sz="1550" spc="1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75" dirty="0">
                <a:solidFill>
                  <a:srgbClr val="FFFFFF"/>
                </a:solidFill>
                <a:latin typeface="Trebuchet MS"/>
                <a:cs typeface="Trebuchet MS"/>
              </a:rPr>
              <a:t>–</a:t>
            </a:r>
            <a:r>
              <a:rPr sz="1550" spc="55" dirty="0">
                <a:solidFill>
                  <a:srgbClr val="FFFFFF"/>
                </a:solidFill>
                <a:latin typeface="Trebuchet MS"/>
                <a:cs typeface="Trebuchet MS"/>
              </a:rPr>
              <a:t>SENA,</a:t>
            </a:r>
            <a:r>
              <a:rPr sz="1550" spc="3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Centro</a:t>
            </a:r>
            <a:r>
              <a:rPr sz="1550" spc="16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Electricidad</a:t>
            </a:r>
            <a:r>
              <a:rPr sz="1550" spc="1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Electrónica</a:t>
            </a:r>
            <a:r>
              <a:rPr sz="1550" spc="1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y</a:t>
            </a:r>
            <a:r>
              <a:rPr sz="1550" spc="8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Telecomunicaciones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Técnico</a:t>
            </a:r>
            <a:r>
              <a:rPr sz="1550" spc="1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en</a:t>
            </a:r>
            <a:r>
              <a:rPr sz="1550" spc="1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Programación</a:t>
            </a:r>
            <a:r>
              <a:rPr sz="1550" spc="1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5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Software</a:t>
            </a:r>
            <a:r>
              <a:rPr sz="1550" spc="26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sz="1550" spc="2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TPS,</a:t>
            </a:r>
            <a:r>
              <a:rPr sz="1550" spc="19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Primer</a:t>
            </a:r>
            <a:r>
              <a:rPr sz="1550" spc="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Trimestre</a:t>
            </a:r>
            <a:endParaRPr sz="1550">
              <a:latin typeface="Trebuchet MS"/>
              <a:cs typeface="Trebuchet MS"/>
            </a:endParaRPr>
          </a:p>
          <a:p>
            <a:pPr marL="3166110" marR="3153410" indent="-12700" algn="ctr">
              <a:lnSpc>
                <a:spcPct val="105800"/>
              </a:lnSpc>
              <a:spcBef>
                <a:spcPts val="120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Instructor</a:t>
            </a:r>
            <a:r>
              <a:rPr sz="1550" spc="19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Albeiro</a:t>
            </a:r>
            <a:r>
              <a:rPr sz="1550" spc="1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Ramos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Bogotá,</a:t>
            </a:r>
            <a:r>
              <a:rPr sz="1550" spc="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25</a:t>
            </a:r>
            <a:r>
              <a:rPr sz="1550" spc="10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14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100" dirty="0">
                <a:solidFill>
                  <a:srgbClr val="FFFFFF"/>
                </a:solidFill>
                <a:latin typeface="Trebuchet MS"/>
                <a:cs typeface="Trebuchet MS"/>
              </a:rPr>
              <a:t>Abril</a:t>
            </a:r>
            <a:r>
              <a:rPr sz="1550" spc="3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2026</a:t>
            </a:r>
            <a:endParaRPr sz="15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52650"/>
            <a:ext cx="12192000" cy="6705600"/>
            <a:chOff x="0" y="152650"/>
            <a:chExt cx="12192000" cy="6705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52650"/>
              <a:ext cx="12191999" cy="670534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93424" y="304800"/>
              <a:ext cx="182879" cy="18287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98656" y="516637"/>
              <a:ext cx="170688" cy="12623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58144" y="518159"/>
              <a:ext cx="645160" cy="615315"/>
            </a:xfrm>
            <a:custGeom>
              <a:avLst/>
              <a:gdLst/>
              <a:ahLst/>
              <a:cxnLst/>
              <a:rect l="l" t="t" r="r" b="b"/>
              <a:pathLst>
                <a:path w="645159" h="615315">
                  <a:moveTo>
                    <a:pt x="382143" y="96520"/>
                  </a:moveTo>
                  <a:lnTo>
                    <a:pt x="288163" y="96520"/>
                  </a:lnTo>
                  <a:lnTo>
                    <a:pt x="288163" y="72390"/>
                  </a:lnTo>
                  <a:lnTo>
                    <a:pt x="371602" y="72390"/>
                  </a:lnTo>
                  <a:lnTo>
                    <a:pt x="371602" y="46990"/>
                  </a:lnTo>
                  <a:lnTo>
                    <a:pt x="288163" y="46990"/>
                  </a:lnTo>
                  <a:lnTo>
                    <a:pt x="288163" y="26670"/>
                  </a:lnTo>
                  <a:lnTo>
                    <a:pt x="378587" y="26670"/>
                  </a:lnTo>
                  <a:lnTo>
                    <a:pt x="378587" y="0"/>
                  </a:lnTo>
                  <a:lnTo>
                    <a:pt x="233426" y="0"/>
                  </a:lnTo>
                  <a:lnTo>
                    <a:pt x="233426" y="26670"/>
                  </a:lnTo>
                  <a:lnTo>
                    <a:pt x="233426" y="46990"/>
                  </a:lnTo>
                  <a:lnTo>
                    <a:pt x="233426" y="72390"/>
                  </a:lnTo>
                  <a:lnTo>
                    <a:pt x="233426" y="96520"/>
                  </a:lnTo>
                  <a:lnTo>
                    <a:pt x="233426" y="123190"/>
                  </a:lnTo>
                  <a:lnTo>
                    <a:pt x="382143" y="123190"/>
                  </a:lnTo>
                  <a:lnTo>
                    <a:pt x="382143" y="96520"/>
                  </a:lnTo>
                  <a:close/>
                </a:path>
                <a:path w="645159" h="615315">
                  <a:moveTo>
                    <a:pt x="390271" y="153416"/>
                  </a:moveTo>
                  <a:lnTo>
                    <a:pt x="0" y="153416"/>
                  </a:lnTo>
                  <a:lnTo>
                    <a:pt x="0" y="217551"/>
                  </a:lnTo>
                  <a:lnTo>
                    <a:pt x="242316" y="217551"/>
                  </a:lnTo>
                  <a:lnTo>
                    <a:pt x="253111" y="220599"/>
                  </a:lnTo>
                  <a:lnTo>
                    <a:pt x="260604" y="228219"/>
                  </a:lnTo>
                  <a:lnTo>
                    <a:pt x="263398" y="238506"/>
                  </a:lnTo>
                  <a:lnTo>
                    <a:pt x="260604" y="249301"/>
                  </a:lnTo>
                  <a:lnTo>
                    <a:pt x="112268" y="506984"/>
                  </a:lnTo>
                  <a:lnTo>
                    <a:pt x="160909" y="552831"/>
                  </a:lnTo>
                  <a:lnTo>
                    <a:pt x="390271" y="153416"/>
                  </a:lnTo>
                  <a:close/>
                </a:path>
                <a:path w="645159" h="615315">
                  <a:moveTo>
                    <a:pt x="644779" y="584835"/>
                  </a:moveTo>
                  <a:lnTo>
                    <a:pt x="424688" y="220472"/>
                  </a:lnTo>
                  <a:lnTo>
                    <a:pt x="424307" y="221615"/>
                  </a:lnTo>
                  <a:lnTo>
                    <a:pt x="209931" y="586867"/>
                  </a:lnTo>
                  <a:lnTo>
                    <a:pt x="267081" y="615315"/>
                  </a:lnTo>
                  <a:lnTo>
                    <a:pt x="407670" y="377444"/>
                  </a:lnTo>
                  <a:lnTo>
                    <a:pt x="415925" y="369443"/>
                  </a:lnTo>
                  <a:lnTo>
                    <a:pt x="426339" y="366776"/>
                  </a:lnTo>
                  <a:lnTo>
                    <a:pt x="436626" y="369443"/>
                  </a:lnTo>
                  <a:lnTo>
                    <a:pt x="444627" y="377444"/>
                  </a:lnTo>
                  <a:lnTo>
                    <a:pt x="586486" y="615315"/>
                  </a:lnTo>
                  <a:lnTo>
                    <a:pt x="644779" y="584835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63019" y="518668"/>
              <a:ext cx="423545" cy="12217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517756" y="671576"/>
              <a:ext cx="390525" cy="399415"/>
            </a:xfrm>
            <a:custGeom>
              <a:avLst/>
              <a:gdLst/>
              <a:ahLst/>
              <a:cxnLst/>
              <a:rect l="l" t="t" r="r" b="b"/>
              <a:pathLst>
                <a:path w="390525" h="399415">
                  <a:moveTo>
                    <a:pt x="390271" y="0"/>
                  </a:moveTo>
                  <a:lnTo>
                    <a:pt x="0" y="0"/>
                  </a:lnTo>
                  <a:lnTo>
                    <a:pt x="228981" y="399414"/>
                  </a:lnTo>
                  <a:lnTo>
                    <a:pt x="277622" y="353568"/>
                  </a:lnTo>
                  <a:lnTo>
                    <a:pt x="129667" y="95885"/>
                  </a:lnTo>
                  <a:lnTo>
                    <a:pt x="126746" y="85089"/>
                  </a:lnTo>
                  <a:lnTo>
                    <a:pt x="129667" y="74802"/>
                  </a:lnTo>
                  <a:lnTo>
                    <a:pt x="137033" y="67183"/>
                  </a:lnTo>
                  <a:lnTo>
                    <a:pt x="147954" y="64135"/>
                  </a:lnTo>
                  <a:lnTo>
                    <a:pt x="390271" y="64135"/>
                  </a:lnTo>
                  <a:lnTo>
                    <a:pt x="390271" y="0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633171" y="1300683"/>
            <a:ext cx="257556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solidFill>
                  <a:srgbClr val="38AA00"/>
                </a:solidFill>
              </a:rPr>
              <a:t>Introducción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594461" y="2169033"/>
            <a:ext cx="10583545" cy="2601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tienda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ubicada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barrio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Margaritas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Bogotá,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cinco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años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trayectoria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ofreciendo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canasta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familiar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comunidad.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27305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medida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creció,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mismo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tiempo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con </a:t>
            </a:r>
            <a:r>
              <a:rPr sz="1800" dirty="0">
                <a:latin typeface="Calibri"/>
                <a:cs typeface="Calibri"/>
              </a:rPr>
              <a:t>métodos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manuales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convirtió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reto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errores,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pérdidas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desorganización.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960"/>
              </a:spcBef>
            </a:pPr>
            <a:endParaRPr sz="1800">
              <a:latin typeface="Calibri"/>
              <a:cs typeface="Calibri"/>
            </a:endParaRPr>
          </a:p>
          <a:p>
            <a:pPr marL="12700" marR="10795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Por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nace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Store: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centraliza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automatiza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Autoservicio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pueda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enfocarse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mejor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sabe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hacer,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atender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bien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clientes.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50752" y="313943"/>
              <a:ext cx="173735" cy="1706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69193" y="512065"/>
              <a:ext cx="162814" cy="11988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30712" y="513079"/>
              <a:ext cx="615315" cy="587375"/>
            </a:xfrm>
            <a:custGeom>
              <a:avLst/>
              <a:gdLst/>
              <a:ahLst/>
              <a:cxnLst/>
              <a:rect l="l" t="t" r="r" b="b"/>
              <a:pathLst>
                <a:path w="615315" h="587375">
                  <a:moveTo>
                    <a:pt x="364236" y="91440"/>
                  </a:moveTo>
                  <a:lnTo>
                    <a:pt x="274701" y="91440"/>
                  </a:lnTo>
                  <a:lnTo>
                    <a:pt x="274701" y="68580"/>
                  </a:lnTo>
                  <a:lnTo>
                    <a:pt x="354330" y="68580"/>
                  </a:lnTo>
                  <a:lnTo>
                    <a:pt x="354330" y="44450"/>
                  </a:lnTo>
                  <a:lnTo>
                    <a:pt x="274701" y="44450"/>
                  </a:lnTo>
                  <a:lnTo>
                    <a:pt x="274701" y="26670"/>
                  </a:lnTo>
                  <a:lnTo>
                    <a:pt x="361061" y="26670"/>
                  </a:lnTo>
                  <a:lnTo>
                    <a:pt x="361061" y="0"/>
                  </a:lnTo>
                  <a:lnTo>
                    <a:pt x="222631" y="0"/>
                  </a:lnTo>
                  <a:lnTo>
                    <a:pt x="222631" y="26670"/>
                  </a:lnTo>
                  <a:lnTo>
                    <a:pt x="222631" y="44450"/>
                  </a:lnTo>
                  <a:lnTo>
                    <a:pt x="222631" y="68580"/>
                  </a:lnTo>
                  <a:lnTo>
                    <a:pt x="222631" y="91440"/>
                  </a:lnTo>
                  <a:lnTo>
                    <a:pt x="222631" y="116840"/>
                  </a:lnTo>
                  <a:lnTo>
                    <a:pt x="364236" y="116840"/>
                  </a:lnTo>
                  <a:lnTo>
                    <a:pt x="364236" y="91440"/>
                  </a:lnTo>
                  <a:close/>
                </a:path>
                <a:path w="615315" h="587375">
                  <a:moveTo>
                    <a:pt x="371983" y="146431"/>
                  </a:moveTo>
                  <a:lnTo>
                    <a:pt x="0" y="146431"/>
                  </a:lnTo>
                  <a:lnTo>
                    <a:pt x="0" y="208153"/>
                  </a:lnTo>
                  <a:lnTo>
                    <a:pt x="231013" y="208153"/>
                  </a:lnTo>
                  <a:lnTo>
                    <a:pt x="241427" y="210947"/>
                  </a:lnTo>
                  <a:lnTo>
                    <a:pt x="248412" y="218186"/>
                  </a:lnTo>
                  <a:lnTo>
                    <a:pt x="250952" y="227838"/>
                  </a:lnTo>
                  <a:lnTo>
                    <a:pt x="248158" y="238252"/>
                  </a:lnTo>
                  <a:lnTo>
                    <a:pt x="107188" y="483743"/>
                  </a:lnTo>
                  <a:lnTo>
                    <a:pt x="153416" y="527304"/>
                  </a:lnTo>
                  <a:lnTo>
                    <a:pt x="371983" y="146431"/>
                  </a:lnTo>
                  <a:close/>
                </a:path>
                <a:path w="615315" h="587375">
                  <a:moveTo>
                    <a:pt x="614934" y="558038"/>
                  </a:moveTo>
                  <a:lnTo>
                    <a:pt x="405257" y="210820"/>
                  </a:lnTo>
                  <a:lnTo>
                    <a:pt x="404749" y="210820"/>
                  </a:lnTo>
                  <a:lnTo>
                    <a:pt x="404749" y="211328"/>
                  </a:lnTo>
                  <a:lnTo>
                    <a:pt x="199771" y="559562"/>
                  </a:lnTo>
                  <a:lnTo>
                    <a:pt x="254381" y="586994"/>
                  </a:lnTo>
                  <a:lnTo>
                    <a:pt x="388620" y="360172"/>
                  </a:lnTo>
                  <a:lnTo>
                    <a:pt x="396367" y="352679"/>
                  </a:lnTo>
                  <a:lnTo>
                    <a:pt x="406273" y="350139"/>
                  </a:lnTo>
                  <a:lnTo>
                    <a:pt x="416306" y="352679"/>
                  </a:lnTo>
                  <a:lnTo>
                    <a:pt x="424053" y="360172"/>
                  </a:lnTo>
                  <a:lnTo>
                    <a:pt x="559308" y="586994"/>
                  </a:lnTo>
                  <a:lnTo>
                    <a:pt x="614934" y="5580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16792" y="513587"/>
              <a:ext cx="403605" cy="11633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468734" y="659511"/>
              <a:ext cx="372745" cy="381000"/>
            </a:xfrm>
            <a:custGeom>
              <a:avLst/>
              <a:gdLst/>
              <a:ahLst/>
              <a:cxnLst/>
              <a:rect l="l" t="t" r="r" b="b"/>
              <a:pathLst>
                <a:path w="372745" h="381000">
                  <a:moveTo>
                    <a:pt x="372618" y="0"/>
                  </a:moveTo>
                  <a:lnTo>
                    <a:pt x="0" y="0"/>
                  </a:lnTo>
                  <a:lnTo>
                    <a:pt x="218567" y="380873"/>
                  </a:lnTo>
                  <a:lnTo>
                    <a:pt x="264922" y="337312"/>
                  </a:lnTo>
                  <a:lnTo>
                    <a:pt x="123825" y="91821"/>
                  </a:lnTo>
                  <a:lnTo>
                    <a:pt x="121031" y="81406"/>
                  </a:lnTo>
                  <a:lnTo>
                    <a:pt x="123698" y="71754"/>
                  </a:lnTo>
                  <a:lnTo>
                    <a:pt x="130683" y="64515"/>
                  </a:lnTo>
                  <a:lnTo>
                    <a:pt x="141097" y="61722"/>
                  </a:lnTo>
                  <a:lnTo>
                    <a:pt x="372618" y="61722"/>
                  </a:lnTo>
                  <a:lnTo>
                    <a:pt x="372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1265047" y="1237869"/>
            <a:ext cx="459994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220" dirty="0"/>
              <a:t>CONTROL</a:t>
            </a:r>
            <a:r>
              <a:rPr sz="4400" spc="690" dirty="0"/>
              <a:t> </a:t>
            </a:r>
            <a:r>
              <a:rPr sz="4400" spc="200" dirty="0"/>
              <a:t>STORE</a:t>
            </a:r>
            <a:endParaRPr sz="4400"/>
          </a:p>
        </p:txBody>
      </p:sp>
      <p:sp>
        <p:nvSpPr>
          <p:cNvPr id="10" name="object 10"/>
          <p:cNvSpPr txBox="1"/>
          <p:nvPr/>
        </p:nvSpPr>
        <p:spPr>
          <a:xfrm>
            <a:off x="1271016" y="3243072"/>
            <a:ext cx="2001520" cy="133350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15"/>
              </a:spcBef>
            </a:pPr>
            <a:endParaRPr sz="1550">
              <a:latin typeface="Times New Roman"/>
              <a:cs typeface="Times New Roman"/>
            </a:endParaRPr>
          </a:p>
          <a:p>
            <a:pPr marL="347345">
              <a:lnSpc>
                <a:spcPct val="100000"/>
              </a:lnSpc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4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85083" y="3787582"/>
            <a:ext cx="1296035" cy="228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64"/>
              </a:lnSpc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3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67455" y="3238500"/>
            <a:ext cx="2113788" cy="134264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6737731" y="2499487"/>
            <a:ext cx="4093845" cy="2926715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 marR="1811020">
              <a:lnSpc>
                <a:spcPct val="99000"/>
              </a:lnSpc>
              <a:spcBef>
                <a:spcPts val="140"/>
              </a:spcBef>
            </a:pPr>
            <a:r>
              <a:rPr sz="3200" spc="-10" dirty="0">
                <a:latin typeface="Trebuchet MS"/>
                <a:cs typeface="Trebuchet MS"/>
              </a:rPr>
              <a:t>Problema Objetivos </a:t>
            </a:r>
            <a:r>
              <a:rPr sz="3200" spc="-25" dirty="0">
                <a:latin typeface="Trebuchet MS"/>
                <a:cs typeface="Trebuchet MS"/>
              </a:rPr>
              <a:t>Justificación </a:t>
            </a:r>
            <a:r>
              <a:rPr sz="3200" spc="-10" dirty="0">
                <a:latin typeface="Trebuchet MS"/>
                <a:cs typeface="Trebuchet MS"/>
              </a:rPr>
              <a:t>Alcance </a:t>
            </a:r>
            <a:r>
              <a:rPr sz="3200" spc="-25" dirty="0">
                <a:latin typeface="Trebuchet MS"/>
                <a:cs typeface="Trebuchet MS"/>
              </a:rPr>
              <a:t>Delimitación</a:t>
            </a:r>
            <a:endParaRPr sz="3200">
              <a:latin typeface="Trebuchet MS"/>
              <a:cs typeface="Trebuchet MS"/>
            </a:endParaRPr>
          </a:p>
          <a:p>
            <a:pPr marL="12700">
              <a:lnSpc>
                <a:spcPts val="3790"/>
              </a:lnSpc>
            </a:pPr>
            <a:r>
              <a:rPr sz="3200" dirty="0">
                <a:latin typeface="Trebuchet MS"/>
                <a:cs typeface="Trebuchet MS"/>
              </a:rPr>
              <a:t>Entregables</a:t>
            </a:r>
            <a:r>
              <a:rPr sz="3200" spc="155" dirty="0">
                <a:latin typeface="Trebuchet MS"/>
                <a:cs typeface="Trebuchet MS"/>
              </a:rPr>
              <a:t> </a:t>
            </a:r>
            <a:r>
              <a:rPr sz="3200" spc="-10" dirty="0">
                <a:latin typeface="Trebuchet MS"/>
                <a:cs typeface="Trebuchet MS"/>
              </a:rPr>
              <a:t>Trimestre</a:t>
            </a:r>
            <a:endParaRPr sz="3200">
              <a:latin typeface="Trebuchet MS"/>
              <a:cs typeface="Trebuchet MS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71016" y="3235960"/>
            <a:ext cx="20574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7855" rIns="0" bIns="0" rtlCol="0">
            <a:spAutoFit/>
          </a:bodyPr>
          <a:lstStyle/>
          <a:p>
            <a:pPr marL="120650">
              <a:lnSpc>
                <a:spcPct val="100000"/>
              </a:lnSpc>
              <a:spcBef>
                <a:spcPts val="100"/>
              </a:spcBef>
            </a:pPr>
            <a:r>
              <a:rPr sz="4400" spc="125" dirty="0"/>
              <a:t>Problema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8747" y="2617089"/>
            <a:ext cx="10884535" cy="180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presenta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fallas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gestionado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visual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alertas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de </a:t>
            </a:r>
            <a:r>
              <a:rPr sz="1800" dirty="0">
                <a:latin typeface="Calibri"/>
                <a:cs typeface="Calibri"/>
              </a:rPr>
              <a:t>stock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vencimientos.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cuadernos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hojas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Excel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lentos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propensos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10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errores.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94615">
              <a:lnSpc>
                <a:spcPct val="100000"/>
              </a:lnSpc>
            </a:pPr>
            <a:r>
              <a:rPr sz="1800" spc="-10" dirty="0">
                <a:latin typeface="Calibri"/>
                <a:cs typeface="Calibri"/>
              </a:rPr>
              <a:t>Adicionalmente,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presentan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descuadres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frecuentes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falta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integrado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y </a:t>
            </a:r>
            <a:r>
              <a:rPr sz="1800" dirty="0">
                <a:latin typeface="Calibri"/>
                <a:cs typeface="Calibri"/>
              </a:rPr>
              <a:t>egresos,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 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coordinan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WhatsApp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trazabilidad ni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estándar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definido.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situación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desorganización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operativa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afecta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directamente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eficiencia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experiencia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cliente.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5"/>
            <a:ext cx="12192000" cy="6751320"/>
            <a:chOff x="0" y="15"/>
            <a:chExt cx="12192000" cy="67513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5"/>
              <a:ext cx="12191999" cy="6751066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93424" y="197866"/>
              <a:ext cx="182879" cy="18287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98656" y="409703"/>
              <a:ext cx="170688" cy="12623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58144" y="411479"/>
              <a:ext cx="645160" cy="615315"/>
            </a:xfrm>
            <a:custGeom>
              <a:avLst/>
              <a:gdLst/>
              <a:ahLst/>
              <a:cxnLst/>
              <a:rect l="l" t="t" r="r" b="b"/>
              <a:pathLst>
                <a:path w="645159" h="615315">
                  <a:moveTo>
                    <a:pt x="382143" y="96520"/>
                  </a:moveTo>
                  <a:lnTo>
                    <a:pt x="288163" y="96520"/>
                  </a:lnTo>
                  <a:lnTo>
                    <a:pt x="288163" y="72390"/>
                  </a:lnTo>
                  <a:lnTo>
                    <a:pt x="371602" y="72390"/>
                  </a:lnTo>
                  <a:lnTo>
                    <a:pt x="371602" y="46990"/>
                  </a:lnTo>
                  <a:lnTo>
                    <a:pt x="288163" y="46990"/>
                  </a:lnTo>
                  <a:lnTo>
                    <a:pt x="288163" y="26670"/>
                  </a:lnTo>
                  <a:lnTo>
                    <a:pt x="378587" y="26670"/>
                  </a:lnTo>
                  <a:lnTo>
                    <a:pt x="378587" y="0"/>
                  </a:lnTo>
                  <a:lnTo>
                    <a:pt x="233426" y="0"/>
                  </a:lnTo>
                  <a:lnTo>
                    <a:pt x="233426" y="26670"/>
                  </a:lnTo>
                  <a:lnTo>
                    <a:pt x="233426" y="46990"/>
                  </a:lnTo>
                  <a:lnTo>
                    <a:pt x="233426" y="72390"/>
                  </a:lnTo>
                  <a:lnTo>
                    <a:pt x="233426" y="96520"/>
                  </a:lnTo>
                  <a:lnTo>
                    <a:pt x="233426" y="123190"/>
                  </a:lnTo>
                  <a:lnTo>
                    <a:pt x="382143" y="123190"/>
                  </a:lnTo>
                  <a:lnTo>
                    <a:pt x="382143" y="96520"/>
                  </a:lnTo>
                  <a:close/>
                </a:path>
                <a:path w="645159" h="615315">
                  <a:moveTo>
                    <a:pt x="390271" y="153162"/>
                  </a:moveTo>
                  <a:lnTo>
                    <a:pt x="0" y="153162"/>
                  </a:lnTo>
                  <a:lnTo>
                    <a:pt x="0" y="217297"/>
                  </a:lnTo>
                  <a:lnTo>
                    <a:pt x="242316" y="217297"/>
                  </a:lnTo>
                  <a:lnTo>
                    <a:pt x="253111" y="220345"/>
                  </a:lnTo>
                  <a:lnTo>
                    <a:pt x="260604" y="227965"/>
                  </a:lnTo>
                  <a:lnTo>
                    <a:pt x="263398" y="238252"/>
                  </a:lnTo>
                  <a:lnTo>
                    <a:pt x="260604" y="249047"/>
                  </a:lnTo>
                  <a:lnTo>
                    <a:pt x="112268" y="506730"/>
                  </a:lnTo>
                  <a:lnTo>
                    <a:pt x="160909" y="552577"/>
                  </a:lnTo>
                  <a:lnTo>
                    <a:pt x="390271" y="153162"/>
                  </a:lnTo>
                  <a:close/>
                </a:path>
                <a:path w="645159" h="615315">
                  <a:moveTo>
                    <a:pt x="644779" y="584581"/>
                  </a:moveTo>
                  <a:lnTo>
                    <a:pt x="424688" y="220218"/>
                  </a:lnTo>
                  <a:lnTo>
                    <a:pt x="424307" y="221361"/>
                  </a:lnTo>
                  <a:lnTo>
                    <a:pt x="209931" y="586613"/>
                  </a:lnTo>
                  <a:lnTo>
                    <a:pt x="267081" y="615061"/>
                  </a:lnTo>
                  <a:lnTo>
                    <a:pt x="407670" y="377190"/>
                  </a:lnTo>
                  <a:lnTo>
                    <a:pt x="415925" y="369189"/>
                  </a:lnTo>
                  <a:lnTo>
                    <a:pt x="426339" y="366522"/>
                  </a:lnTo>
                  <a:lnTo>
                    <a:pt x="436626" y="369189"/>
                  </a:lnTo>
                  <a:lnTo>
                    <a:pt x="444627" y="377190"/>
                  </a:lnTo>
                  <a:lnTo>
                    <a:pt x="586486" y="615061"/>
                  </a:lnTo>
                  <a:lnTo>
                    <a:pt x="644779" y="584581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63019" y="411734"/>
              <a:ext cx="423545" cy="12217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517756" y="564642"/>
              <a:ext cx="390525" cy="399415"/>
            </a:xfrm>
            <a:custGeom>
              <a:avLst/>
              <a:gdLst/>
              <a:ahLst/>
              <a:cxnLst/>
              <a:rect l="l" t="t" r="r" b="b"/>
              <a:pathLst>
                <a:path w="390525" h="399415">
                  <a:moveTo>
                    <a:pt x="390271" y="0"/>
                  </a:moveTo>
                  <a:lnTo>
                    <a:pt x="0" y="0"/>
                  </a:lnTo>
                  <a:lnTo>
                    <a:pt x="228981" y="399415"/>
                  </a:lnTo>
                  <a:lnTo>
                    <a:pt x="277622" y="353568"/>
                  </a:lnTo>
                  <a:lnTo>
                    <a:pt x="129667" y="95885"/>
                  </a:lnTo>
                  <a:lnTo>
                    <a:pt x="126746" y="85090"/>
                  </a:lnTo>
                  <a:lnTo>
                    <a:pt x="129667" y="74803"/>
                  </a:lnTo>
                  <a:lnTo>
                    <a:pt x="137033" y="67183"/>
                  </a:lnTo>
                  <a:lnTo>
                    <a:pt x="147954" y="64135"/>
                  </a:lnTo>
                  <a:lnTo>
                    <a:pt x="390271" y="64135"/>
                  </a:lnTo>
                  <a:lnTo>
                    <a:pt x="390271" y="0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90727" y="818134"/>
              <a:ext cx="3525520" cy="352425"/>
            </a:xfrm>
            <a:custGeom>
              <a:avLst/>
              <a:gdLst/>
              <a:ahLst/>
              <a:cxnLst/>
              <a:rect l="l" t="t" r="r" b="b"/>
              <a:pathLst>
                <a:path w="3525520" h="352425">
                  <a:moveTo>
                    <a:pt x="3525012" y="0"/>
                  </a:moveTo>
                  <a:lnTo>
                    <a:pt x="0" y="0"/>
                  </a:lnTo>
                  <a:lnTo>
                    <a:pt x="0" y="352044"/>
                  </a:lnTo>
                  <a:lnTo>
                    <a:pt x="3525012" y="352044"/>
                  </a:lnTo>
                  <a:lnTo>
                    <a:pt x="3525012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78358" rIns="0" bIns="0" rtlCol="0">
            <a:spAutoFit/>
          </a:bodyPr>
          <a:lstStyle/>
          <a:p>
            <a:pPr marL="459105">
              <a:lnSpc>
                <a:spcPct val="100000"/>
              </a:lnSpc>
              <a:spcBef>
                <a:spcPts val="105"/>
              </a:spcBef>
            </a:pPr>
            <a:r>
              <a:rPr spc="-10" dirty="0">
                <a:solidFill>
                  <a:srgbClr val="38AA00"/>
                </a:solidFill>
              </a:rPr>
              <a:t>Objetivo</a:t>
            </a:r>
            <a:r>
              <a:rPr spc="-180" dirty="0">
                <a:solidFill>
                  <a:srgbClr val="38AA00"/>
                </a:solidFill>
              </a:rPr>
              <a:t> </a:t>
            </a:r>
            <a:r>
              <a:rPr spc="-10" dirty="0">
                <a:solidFill>
                  <a:srgbClr val="38AA00"/>
                </a:solidFill>
              </a:rPr>
              <a:t>General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74065" y="1431163"/>
            <a:ext cx="432562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información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web </a:t>
            </a:r>
            <a:r>
              <a:rPr sz="1800" spc="-10" dirty="0">
                <a:latin typeface="Calibri"/>
                <a:cs typeface="Calibri"/>
              </a:rPr>
              <a:t>denominado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apoyar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los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internos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50" dirty="0">
                <a:latin typeface="Calibri"/>
                <a:cs typeface="Calibri"/>
              </a:rPr>
              <a:t> y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Ayuelal.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92608" y="2965704"/>
            <a:ext cx="4163695" cy="342900"/>
          </a:xfrm>
          <a:custGeom>
            <a:avLst/>
            <a:gdLst/>
            <a:ahLst/>
            <a:cxnLst/>
            <a:rect l="l" t="t" r="r" b="b"/>
            <a:pathLst>
              <a:path w="4163695" h="342900">
                <a:moveTo>
                  <a:pt x="4163567" y="0"/>
                </a:moveTo>
                <a:lnTo>
                  <a:pt x="0" y="0"/>
                </a:lnTo>
                <a:lnTo>
                  <a:pt x="0" y="342900"/>
                </a:lnTo>
                <a:lnTo>
                  <a:pt x="4163567" y="342900"/>
                </a:lnTo>
                <a:lnTo>
                  <a:pt x="4163567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294233" y="2835656"/>
            <a:ext cx="3745229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-10" dirty="0">
                <a:solidFill>
                  <a:srgbClr val="38AA00"/>
                </a:solidFill>
                <a:latin typeface="Trebuchet MS"/>
                <a:cs typeface="Trebuchet MS"/>
              </a:rPr>
              <a:t>Objetivo</a:t>
            </a:r>
            <a:r>
              <a:rPr sz="3200" spc="-229" dirty="0">
                <a:solidFill>
                  <a:srgbClr val="38AA00"/>
                </a:solidFill>
                <a:latin typeface="Trebuchet MS"/>
                <a:cs typeface="Trebuchet MS"/>
              </a:rPr>
              <a:t> </a:t>
            </a:r>
            <a:r>
              <a:rPr sz="3200" spc="-10" dirty="0">
                <a:solidFill>
                  <a:srgbClr val="38AA00"/>
                </a:solidFill>
                <a:latin typeface="Trebuchet MS"/>
                <a:cs typeface="Trebuchet MS"/>
              </a:rPr>
              <a:t>Específicos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4655" y="3783838"/>
            <a:ext cx="929576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administración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sistema.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cantidades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vencimientos.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registrar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transacciones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automática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reducir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errores.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dinero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analizar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egresos.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registrar,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generar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pedidos</a:t>
            </a:r>
            <a:r>
              <a:rPr sz="1400" spc="-10" dirty="0">
                <a:latin typeface="Calibri"/>
                <a:cs typeface="Calibri"/>
              </a:rPr>
              <a:t>.</a:t>
            </a:r>
            <a:endParaRPr sz="1400">
              <a:latin typeface="Calibri"/>
              <a:cs typeface="Calibri"/>
            </a:endParaRPr>
          </a:p>
        </p:txBody>
      </p:sp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211819" y="197865"/>
            <a:ext cx="2642489" cy="9726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35" dirty="0"/>
              <a:t>Justificación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3039" y="2404109"/>
            <a:ext cx="10992485" cy="23570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propone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desarrollo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mejorar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gestión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Ayuelal.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Actualmente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los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manuales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errores,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desorganización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pérdidas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afectan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operación</a:t>
            </a:r>
            <a:r>
              <a:rPr sz="1800" spc="-10" dirty="0">
                <a:latin typeface="Calibri"/>
                <a:cs typeface="Calibri"/>
              </a:rPr>
              <a:t> del</a:t>
            </a:r>
            <a:r>
              <a:rPr sz="1800" spc="-1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negocio.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automatizará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domicilios,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permitiendo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tiempo </a:t>
            </a:r>
            <a:r>
              <a:rPr sz="1800" dirty="0">
                <a:latin typeface="Calibri"/>
                <a:cs typeface="Calibri"/>
              </a:rPr>
              <a:t>real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generación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apoyar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toma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decisiones.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manera,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proyecto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contribuirá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la </a:t>
            </a:r>
            <a:r>
              <a:rPr sz="1800" dirty="0">
                <a:latin typeface="Calibri"/>
                <a:cs typeface="Calibri"/>
              </a:rPr>
              <a:t>modernización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optimizando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sus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operaciones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fortaleciendo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competitividad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sector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 err="1">
                <a:latin typeface="Calibri"/>
                <a:cs typeface="Calibri"/>
              </a:rPr>
              <a:t>comercial</a:t>
            </a:r>
            <a:r>
              <a:rPr sz="1800" spc="-10" dirty="0">
                <a:latin typeface="Calibri"/>
                <a:cs typeface="Calibri"/>
              </a:rPr>
              <a:t>.</a:t>
            </a:r>
            <a:endParaRPr lang="es-MX" sz="1800" spc="-1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lang="es-CO" spc="-1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sz="1800" dirty="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F3AD-03C5-93A0-D042-3E3513B1C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EEE62853-D9ED-9D69-56CA-A76412E2BC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35" dirty="0"/>
              <a:t>Justificación</a:t>
            </a:r>
            <a:endParaRPr sz="4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8878D4D-8D24-446C-34A4-F6EB9180D0A4}"/>
              </a:ext>
            </a:extLst>
          </p:cNvPr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178C3A2-2E3B-A059-B16F-376D4EB98DE5}"/>
              </a:ext>
            </a:extLst>
          </p:cNvPr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115F0E3-EC5E-CDA6-06A1-4EBF4AB470CA}"/>
              </a:ext>
            </a:extLst>
          </p:cNvPr>
          <p:cNvSpPr txBox="1"/>
          <p:nvPr/>
        </p:nvSpPr>
        <p:spPr>
          <a:xfrm>
            <a:off x="193039" y="2404109"/>
            <a:ext cx="10992485" cy="2634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s-MX" sz="1800" dirty="0">
                <a:latin typeface="Calibri"/>
                <a:cs typeface="Calibri"/>
              </a:rPr>
              <a:t>Para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identificar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necesidades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sistema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</a:t>
            </a:r>
            <a:r>
              <a:rPr lang="es-MX" sz="1800" spc="-4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aplicaron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diversas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técnicas: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entrevista</a:t>
            </a:r>
            <a:r>
              <a:rPr lang="es-MX" sz="1800" spc="-4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semiestructurada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dueño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al </a:t>
            </a:r>
            <a:r>
              <a:rPr lang="es-MX" sz="1800" dirty="0">
                <a:latin typeface="Calibri"/>
                <a:cs typeface="Calibri"/>
              </a:rPr>
              <a:t>domiciliario, encuesta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empleados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32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clientes,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revisión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documental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registros</a:t>
            </a:r>
            <a:r>
              <a:rPr lang="es-MX" sz="1800" spc="-4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negocio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benchmarking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sistemas </a:t>
            </a:r>
            <a:r>
              <a:rPr lang="es-MX" sz="1800" dirty="0">
                <a:latin typeface="Calibri"/>
                <a:cs typeface="Calibri"/>
              </a:rPr>
              <a:t>POS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existentes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mercado.</a:t>
            </a:r>
            <a:endParaRPr lang="es-MX"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MX" sz="1800" dirty="0">
              <a:latin typeface="Calibri"/>
              <a:cs typeface="Calibri"/>
            </a:endParaRPr>
          </a:p>
          <a:p>
            <a:pPr marL="12700" marR="147955" algn="just">
              <a:lnSpc>
                <a:spcPct val="100000"/>
              </a:lnSpc>
            </a:pP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4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partir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análisis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identificaron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siguientes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necesidades: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mejorar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control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inventario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tiempo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real,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optimizar</a:t>
            </a:r>
            <a:r>
              <a:rPr lang="es-MX" sz="1800" spc="-95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el </a:t>
            </a:r>
            <a:r>
              <a:rPr lang="es-MX" sz="1800" dirty="0">
                <a:latin typeface="Calibri"/>
                <a:cs typeface="Calibri"/>
              </a:rPr>
              <a:t>registro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ventas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forma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automatizada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precisa,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organizar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hacer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seguimiento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domicilios,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centralizar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control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de </a:t>
            </a:r>
            <a:r>
              <a:rPr lang="es-MX" sz="1800" dirty="0">
                <a:latin typeface="Calibri"/>
                <a:cs typeface="Calibri"/>
              </a:rPr>
              <a:t>caja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seguimiento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ingresos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egresos,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generar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reportes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que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apoyen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toma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decisiones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administrador.</a:t>
            </a:r>
            <a:endParaRPr lang="es-MX"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sz="1800" dirty="0">
              <a:latin typeface="Calibri"/>
              <a:cs typeface="Calibri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731FC9CE-8853-0CE3-F1F5-4FE211225FDF}"/>
              </a:ext>
            </a:extLst>
          </p:cNvPr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167ABA1-9618-9D15-9243-6F518DED5A3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2BC8F0D-3413-00D6-CACB-38687823820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76197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20" dirty="0"/>
              <a:t>Alcance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15112"/>
            <a:ext cx="1077595" cy="538480"/>
          </a:xfrm>
          <a:prstGeom prst="rect">
            <a:avLst/>
          </a:prstGeom>
          <a:ln w="9271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78047" y="515112"/>
            <a:ext cx="1085215" cy="538480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825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1515" y="2508250"/>
            <a:ext cx="11068685" cy="2348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842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permitirá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Autoservicio </a:t>
            </a:r>
            <a:r>
              <a:rPr sz="1800" dirty="0">
                <a:latin typeface="Calibri"/>
                <a:cs typeface="Calibri"/>
              </a:rPr>
              <a:t>Ayuelal.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Incluirá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productos,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existencias,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manejo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egresos,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generación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de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tiempo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real.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reemplazará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decisiones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ni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funcionará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autónoma;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objetivo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apoyar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gestión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negocio.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desarrollará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bajo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arquitectura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cliente-</a:t>
            </a:r>
            <a:r>
              <a:rPr sz="1800" dirty="0">
                <a:latin typeface="Calibri"/>
                <a:cs typeface="Calibri"/>
              </a:rPr>
              <a:t>servidor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Back-End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lógica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y </a:t>
            </a:r>
            <a:r>
              <a:rPr sz="1800" dirty="0">
                <a:latin typeface="Calibri"/>
                <a:cs typeface="Calibri"/>
              </a:rPr>
              <a:t>manejo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Front-</a:t>
            </a:r>
            <a:r>
              <a:rPr sz="1800" dirty="0">
                <a:latin typeface="Calibri"/>
                <a:cs typeface="Calibri"/>
              </a:rPr>
              <a:t>End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interacción con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base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relacional,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frameworks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librerías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optimizar el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desarrollo.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10" dirty="0"/>
              <a:t>Delimitación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15112"/>
            <a:ext cx="1077595" cy="538480"/>
          </a:xfrm>
          <a:prstGeom prst="rect">
            <a:avLst/>
          </a:prstGeom>
          <a:ln w="9271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78047" y="515112"/>
            <a:ext cx="1085215" cy="538480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825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381000" y="1941269"/>
            <a:ext cx="10998835" cy="49167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969"/>
              </a:spcBef>
            </a:pPr>
            <a:r>
              <a:rPr lang="es-CO" dirty="0"/>
              <a:t>El proyecto se desarrolla en siete trimestres académicos. En el primer trimestre se define el problema y los requerimientos. En el segundo trimestre se diseñan los prototipos y la base de datos. En el tercer y cuarto trimestre se desarrollan la base de datos y el </a:t>
            </a:r>
            <a:r>
              <a:rPr lang="es-CO" dirty="0" err="1"/>
              <a:t>frontend</a:t>
            </a:r>
            <a:r>
              <a:rPr lang="es-CO" dirty="0"/>
              <a:t>. En el quinto y sexto trimestre se integra la API y la aplicación móvil. Finalmente, en el séptimo trimestre se realizan las pruebas, el manual de usuario y el despliegue del sistema.</a:t>
            </a:r>
          </a:p>
          <a:p>
            <a:pPr>
              <a:spcBef>
                <a:spcPts val="969"/>
              </a:spcBef>
            </a:pPr>
            <a:endParaRPr lang="es-CO" dirty="0"/>
          </a:p>
          <a:p>
            <a:pPr>
              <a:lnSpc>
                <a:spcPct val="100000"/>
              </a:lnSpc>
              <a:spcBef>
                <a:spcPts val="969"/>
              </a:spcBef>
            </a:pPr>
            <a:r>
              <a:rPr lang="es-CO" dirty="0"/>
              <a:t>El desarrollo del proyecto se lleva a cabo en la ciudad de Bogotá. Si bien el sistema se diseña a partir de las necesidades particulares del Autoservicio Ayuelal, su arquitectura y funcionalidades se plantean de forma que puedan adaptarse e implementarse en cualquier tienda o autoservicio de la ciudad de Bogotá.</a:t>
            </a: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r>
              <a:rPr lang="es-CO" u="sng" dirty="0">
                <a:solidFill>
                  <a:srgbClr val="1155CC"/>
                </a:solidFill>
                <a:hlinkClick r:id="rId2"/>
              </a:rPr>
              <a:t>Ver Diagrama de Gantt (Excel)</a:t>
            </a: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spc="-10" dirty="0"/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33070" marR="5080">
              <a:lnSpc>
                <a:spcPts val="3500"/>
              </a:lnSpc>
              <a:spcBef>
                <a:spcPts val="500"/>
              </a:spcBef>
            </a:pPr>
            <a:r>
              <a:rPr spc="90" dirty="0"/>
              <a:t>Entregables</a:t>
            </a:r>
            <a:r>
              <a:rPr spc="560" dirty="0"/>
              <a:t> </a:t>
            </a:r>
            <a:r>
              <a:rPr spc="80" dirty="0"/>
              <a:t>Proyecto</a:t>
            </a:r>
            <a:r>
              <a:rPr spc="409" dirty="0"/>
              <a:t> </a:t>
            </a:r>
            <a:r>
              <a:rPr spc="70" dirty="0"/>
              <a:t>Formativo </a:t>
            </a:r>
            <a:r>
              <a:rPr spc="55" dirty="0"/>
              <a:t>por</a:t>
            </a:r>
            <a:r>
              <a:rPr spc="295" dirty="0"/>
              <a:t> </a:t>
            </a:r>
            <a:r>
              <a:rPr spc="35" dirty="0"/>
              <a:t>Trimestre</a:t>
            </a:r>
          </a:p>
        </p:txBody>
      </p:sp>
      <p:sp>
        <p:nvSpPr>
          <p:cNvPr id="3" name="object 3"/>
          <p:cNvSpPr/>
          <p:nvPr/>
        </p:nvSpPr>
        <p:spPr>
          <a:xfrm>
            <a:off x="8700516" y="509016"/>
            <a:ext cx="1077595" cy="544195"/>
          </a:xfrm>
          <a:custGeom>
            <a:avLst/>
            <a:gdLst/>
            <a:ahLst/>
            <a:cxnLst/>
            <a:rect l="l" t="t" r="r" b="b"/>
            <a:pathLst>
              <a:path w="1077595" h="544194">
                <a:moveTo>
                  <a:pt x="0" y="544195"/>
                </a:moveTo>
                <a:lnTo>
                  <a:pt x="1077595" y="544195"/>
                </a:lnTo>
                <a:lnTo>
                  <a:pt x="1077595" y="0"/>
                </a:lnTo>
                <a:lnTo>
                  <a:pt x="0" y="0"/>
                </a:lnTo>
                <a:lnTo>
                  <a:pt x="0" y="544195"/>
                </a:lnTo>
                <a:close/>
              </a:path>
            </a:pathLst>
          </a:custGeom>
          <a:ln w="9143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8895842" y="507013"/>
            <a:ext cx="672465" cy="47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255" algn="ctr">
              <a:lnSpc>
                <a:spcPts val="1764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110"/>
              </a:spcBef>
            </a:pPr>
            <a:r>
              <a:rPr sz="1550" spc="-25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918827" y="519237"/>
            <a:ext cx="779145" cy="47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335" algn="ctr">
              <a:lnSpc>
                <a:spcPts val="1764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11826" y="1863470"/>
            <a:ext cx="1648588" cy="109346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32510" y="1813941"/>
            <a:ext cx="1615440" cy="11042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T1</a:t>
            </a:r>
            <a:r>
              <a:rPr sz="1300" b="1" spc="-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Especificación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de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Requisitos</a:t>
            </a:r>
            <a:endParaRPr sz="1300">
              <a:latin typeface="Trebuchet MS"/>
              <a:cs typeface="Trebuchet MS"/>
            </a:endParaRPr>
          </a:p>
          <a:p>
            <a:pPr marL="12700" marR="131445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Diagrama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procesos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Análisis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necesidades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Requisitos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IEEE-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830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660313" y="1863347"/>
            <a:ext cx="1923956" cy="1101336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3681221" y="1813941"/>
            <a:ext cx="1886585" cy="1111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T2</a:t>
            </a:r>
            <a:r>
              <a:rPr sz="1300" b="1" spc="10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Diseño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 Prototipado</a:t>
            </a:r>
            <a:endParaRPr sz="1300">
              <a:latin typeface="Trebuchet MS"/>
              <a:cs typeface="Trebuchet MS"/>
            </a:endParaRPr>
          </a:p>
          <a:p>
            <a:pPr marL="12700" marR="575310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Casos</a:t>
            </a:r>
            <a:r>
              <a:rPr sz="1100" spc="-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uso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(UML)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Mockups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en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Figma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Cronograma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y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costos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Repositorio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(SCV)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522422" y="1863742"/>
            <a:ext cx="2198201" cy="1315421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544436" y="1813941"/>
            <a:ext cx="2159000" cy="1317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T3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Diseño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Técnico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de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Datos</a:t>
            </a:r>
            <a:endParaRPr sz="1300">
              <a:latin typeface="Trebuchet MS"/>
              <a:cs typeface="Trebuchet MS"/>
            </a:endParaRPr>
          </a:p>
          <a:p>
            <a:pPr marL="12700" marR="864235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Modelo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relacional Normalización</a:t>
            </a:r>
            <a:r>
              <a:rPr sz="1100" spc="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3FN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Diccionario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datos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Diagramas</a:t>
            </a:r>
            <a:r>
              <a:rPr sz="1100" spc="-5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UML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Prototipo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navegable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5" name="object 1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360262" y="1863347"/>
            <a:ext cx="2255810" cy="1083133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9382506" y="1813941"/>
            <a:ext cx="2217420" cy="1111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T4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Desarrollo</a:t>
            </a:r>
            <a:r>
              <a:rPr sz="1300" b="1" spc="-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BD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Frontend</a:t>
            </a:r>
            <a:endParaRPr sz="1300">
              <a:latin typeface="Trebuchet MS"/>
              <a:cs typeface="Trebuchet MS"/>
            </a:endParaRPr>
          </a:p>
          <a:p>
            <a:pPr marL="12700" marR="1181100">
              <a:lnSpc>
                <a:spcPct val="1227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Script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DDL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 Script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DML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Seguridad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BD</a:t>
            </a:r>
            <a:endParaRPr sz="11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05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Frontend Blade + Sanctum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/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/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/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/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/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60635" y="4357736"/>
            <a:ext cx="1908385" cy="89790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1881885" y="4310253"/>
            <a:ext cx="1870710" cy="9055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T5</a:t>
            </a:r>
            <a:r>
              <a:rPr sz="1300" b="1" spc="-10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Integración</a:t>
            </a:r>
            <a:r>
              <a:rPr sz="1300" b="1" spc="-4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API</a:t>
            </a:r>
            <a:r>
              <a:rPr sz="1300" b="1" spc="-4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REST</a:t>
            </a:r>
            <a:endParaRPr sz="13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REST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(Sanctum/CORS)</a:t>
            </a:r>
            <a:endParaRPr sz="1100">
              <a:latin typeface="Trebuchet MS"/>
              <a:cs typeface="Trebuchet MS"/>
            </a:endParaRPr>
          </a:p>
          <a:p>
            <a:pPr marL="12700" marR="645795">
              <a:lnSpc>
                <a:spcPct val="1227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Frontend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integrado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Repositorio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(SCV)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748517" y="4354947"/>
            <a:ext cx="1806452" cy="1299762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4770501" y="4306570"/>
            <a:ext cx="1774189" cy="13093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255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T6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App</a:t>
            </a:r>
            <a:r>
              <a:rPr sz="1300" b="1" spc="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Móvil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Cierre Frontend</a:t>
            </a:r>
            <a:endParaRPr sz="13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Solución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web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completa</a:t>
            </a:r>
            <a:endParaRPr sz="1100">
              <a:latin typeface="Trebuchet MS"/>
              <a:cs typeface="Trebuchet MS"/>
            </a:endParaRPr>
          </a:p>
          <a:p>
            <a:pPr marL="12700" marR="5080">
              <a:lnSpc>
                <a:spcPct val="1227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documentada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(Swagger)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App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móvil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ágil</a:t>
            </a:r>
            <a:endParaRPr sz="11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App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móvil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con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669758" y="4355301"/>
            <a:ext cx="1747775" cy="151388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7691373" y="4306570"/>
            <a:ext cx="1706880" cy="15151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715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T7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Pruebas,</a:t>
            </a:r>
            <a:r>
              <a:rPr sz="1300" b="1" spc="-3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Calidad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50" dirty="0">
                <a:solidFill>
                  <a:srgbClr val="2D7C0D"/>
                </a:solidFill>
                <a:latin typeface="Trebuchet MS"/>
                <a:cs typeface="Trebuchet MS"/>
              </a:rPr>
              <a:t>y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Despliegue</a:t>
            </a:r>
            <a:endParaRPr sz="1300">
              <a:latin typeface="Trebuchet MS"/>
              <a:cs typeface="Trebuchet MS"/>
            </a:endParaRPr>
          </a:p>
          <a:p>
            <a:pPr marL="12700" marR="410209">
              <a:lnSpc>
                <a:spcPct val="1227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Pruebas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software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Plan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despliegue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Calidad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ISO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25010</a:t>
            </a:r>
            <a:endParaRPr sz="1100">
              <a:latin typeface="Trebuchet MS"/>
              <a:cs typeface="Trebuchet MS"/>
            </a:endParaRPr>
          </a:p>
          <a:p>
            <a:pPr marL="12700" marR="5080">
              <a:lnSpc>
                <a:spcPct val="1228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Manuales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técnico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y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usuario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Despliegue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en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servidores</a:t>
            </a:r>
            <a:endParaRPr sz="11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4320" y="5201080"/>
            <a:ext cx="4259580" cy="55689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Línea</a:t>
            </a:r>
            <a:r>
              <a:rPr sz="1400" spc="2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D6F8AD"/>
                </a:solidFill>
                <a:latin typeface="Arial MT"/>
                <a:cs typeface="Arial MT"/>
              </a:rPr>
              <a:t>de</a:t>
            </a:r>
            <a:r>
              <a:rPr sz="1400" spc="305" dirty="0">
                <a:solidFill>
                  <a:srgbClr val="D6F8AD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atención</a:t>
            </a:r>
            <a:r>
              <a:rPr sz="1400" spc="4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al</a:t>
            </a:r>
            <a:r>
              <a:rPr sz="1400" spc="3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ciudadano:</a:t>
            </a:r>
            <a:r>
              <a:rPr sz="1400" spc="43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01</a:t>
            </a:r>
            <a:r>
              <a:rPr sz="1400" spc="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8000</a:t>
            </a:r>
            <a:r>
              <a:rPr sz="1400" spc="3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910270</a:t>
            </a:r>
            <a:endParaRPr sz="1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Línea</a:t>
            </a:r>
            <a:r>
              <a:rPr sz="1400" spc="25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1400" spc="3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aten</a:t>
            </a:r>
            <a:r>
              <a:rPr sz="1400" spc="-1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ción</a:t>
            </a:r>
            <a:r>
              <a:rPr sz="1400" spc="3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al</a:t>
            </a:r>
            <a:r>
              <a:rPr sz="1400" spc="3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empresario:</a:t>
            </a:r>
            <a:r>
              <a:rPr sz="1400" spc="43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E6FFCD"/>
                </a:solidFill>
                <a:latin typeface="Arial MT"/>
                <a:cs typeface="Arial MT"/>
              </a:rPr>
              <a:t>01</a:t>
            </a:r>
            <a:r>
              <a:rPr sz="1400" spc="145" dirty="0">
                <a:solidFill>
                  <a:srgbClr val="E6FFCD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8000</a:t>
            </a:r>
            <a:r>
              <a:rPr sz="1400" spc="3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910682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54926" y="5379465"/>
            <a:ext cx="384810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dirty="0">
                <a:solidFill>
                  <a:srgbClr val="88B86E"/>
                </a:solidFill>
                <a:latin typeface="Arial Black"/>
                <a:cs typeface="Arial Black"/>
              </a:rPr>
              <a:t>@</a:t>
            </a:r>
            <a:r>
              <a:rPr sz="1300" spc="-60" dirty="0">
                <a:solidFill>
                  <a:srgbClr val="88B86E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9FFD2"/>
                </a:solidFill>
                <a:latin typeface="Arial Black"/>
                <a:cs typeface="Arial Black"/>
              </a:rPr>
              <a:t>S</a:t>
            </a:r>
            <a:r>
              <a:rPr sz="1300" spc="-220" dirty="0">
                <a:solidFill>
                  <a:srgbClr val="E9FFD2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 Black"/>
                <a:cs typeface="Arial Black"/>
              </a:rPr>
              <a:t>E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ACo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m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u</a:t>
            </a:r>
            <a:r>
              <a:rPr sz="1300" spc="-2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19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 Black"/>
                <a:cs typeface="Arial Black"/>
              </a:rPr>
              <a:t>i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ca</a:t>
            </a:r>
            <a:r>
              <a:rPr sz="1300" spc="-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0" dirty="0">
                <a:solidFill>
                  <a:srgbClr val="E9FFF0"/>
                </a:solidFill>
                <a:latin typeface="Arial Black"/>
                <a:cs typeface="Arial Black"/>
              </a:rPr>
              <a:t>.</a:t>
            </a:r>
            <a:r>
              <a:rPr sz="1300" spc="-90" dirty="0">
                <a:solidFill>
                  <a:srgbClr val="E9FFF0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se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1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E8FFD6"/>
                </a:solidFill>
                <a:latin typeface="Arial Black"/>
                <a:cs typeface="Arial Black"/>
              </a:rPr>
              <a:t>a</a:t>
            </a:r>
            <a:r>
              <a:rPr sz="1300" spc="-235" dirty="0">
                <a:solidFill>
                  <a:srgbClr val="E8FFD6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DFFD6"/>
                </a:solidFill>
                <a:latin typeface="Arial Black"/>
                <a:cs typeface="Arial Black"/>
              </a:rPr>
              <a:t>.</a:t>
            </a:r>
            <a:r>
              <a:rPr sz="1300" spc="-175" dirty="0">
                <a:solidFill>
                  <a:srgbClr val="EDFFD6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e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d</a:t>
            </a:r>
            <a:r>
              <a:rPr sz="1300" spc="-1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u</a:t>
            </a:r>
            <a:r>
              <a:rPr sz="1300" spc="-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9FFC5"/>
                </a:solidFill>
                <a:latin typeface="Arial Black"/>
                <a:cs typeface="Arial Black"/>
              </a:rPr>
              <a:t>.</a:t>
            </a:r>
            <a:r>
              <a:rPr sz="1300" spc="-155" dirty="0">
                <a:solidFill>
                  <a:srgbClr val="E9FFC5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c</a:t>
            </a:r>
            <a:r>
              <a:rPr sz="1300" spc="-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50" dirty="0">
                <a:solidFill>
                  <a:srgbClr val="FFFFFF"/>
                </a:solidFill>
                <a:latin typeface="Arial Black"/>
                <a:cs typeface="Arial Black"/>
              </a:rPr>
              <a:t>o</a:t>
            </a:r>
            <a:endParaRPr sz="13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1030</Words>
  <Application>Microsoft Office PowerPoint</Application>
  <PresentationFormat>Panorámica</PresentationFormat>
  <Paragraphs>98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 Black</vt:lpstr>
      <vt:lpstr>Arial MT</vt:lpstr>
      <vt:lpstr>Calibri</vt:lpstr>
      <vt:lpstr>Times New Roman</vt:lpstr>
      <vt:lpstr>Trebuchet MS</vt:lpstr>
      <vt:lpstr>Office Theme</vt:lpstr>
      <vt:lpstr>CONTROL STORE</vt:lpstr>
      <vt:lpstr>CONTROL STORE</vt:lpstr>
      <vt:lpstr>Introducción</vt:lpstr>
      <vt:lpstr>CONTROL STORE</vt:lpstr>
      <vt:lpstr>Problema</vt:lpstr>
      <vt:lpstr>Objetivo General</vt:lpstr>
      <vt:lpstr>Justificación</vt:lpstr>
      <vt:lpstr>Justificación</vt:lpstr>
      <vt:lpstr>Alcance</vt:lpstr>
      <vt:lpstr>Delimitación</vt:lpstr>
      <vt:lpstr>Entregables Proyecto Formativo por Trimestre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Bryan Torres</dc:creator>
  <cp:lastModifiedBy>Andrew Torres</cp:lastModifiedBy>
  <cp:revision>2</cp:revision>
  <dcterms:created xsi:type="dcterms:W3CDTF">2026-06-20T00:02:44Z</dcterms:created>
  <dcterms:modified xsi:type="dcterms:W3CDTF">2026-06-30T21:17:17Z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2026-06-08T00:00:00Z</vt:filetime>
  </property>
  <property fmtid="{D5CDD505-2E9C-101B-9397-08002B2CF9AE}" pid="4" name="Creator">
    <vt:lpwstr>Microsoft® PowerPoint® para Microsoft 365</vt:lpwstr>
  </property>
  <property fmtid="{D5CDD505-2E9C-101B-9397-08002B2CF9AE}" pid="5" name="LastSaved">
    <vt:filetime>2026-06-20T00:00:00Z</vt:filetime>
  </property>
  <property fmtid="{D5CDD505-2E9C-101B-9397-08002B2CF9AE}" pid="6" name="Producer">
    <vt:lpwstr>Microsoft® PowerPoint® para Microsoft 365</vt:lpwstr>
  </property>
</Properties>
</file>